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72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(≈30 sec): State the project title, group number, and names. One sentence on what the project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(≈1 min): Why this problem matters and what the project's goal is. Mention the scope expansion from the proposal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(≈1.5 min): Briefly explain LS-PIV vs. optical flow in plain terms — this is literature-review content, keep it high-level for a general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(≈1.5 min): Walk through the 4-step pipeline. This is a good place to show a diagram or example frame once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LS-PIV (≈2 min): Explain how you implemented LS-PIV specifically, then walk through its results — accuracy vs. reference velocity, and how it held up under different conditions. Add a plot or example frame to this slide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Flow (≈2 min): Explain how you implemented Optical Flow specifically, then walk through its results — accuracy vs. reference velocity, and how it held up under different conditions. Add a plot or example frame to this slide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(≈1.5 min): Mirror the paper's Discussion section — which method won and why, the trade-offs, and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River Surface Velocity from Video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LS-PIV and Optical Flow for Vision-Based Streamflow Estimation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Welcker   •   Andrew Chan   •   Brayden Duerksen   •   Sean Gilbert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Vision-Based River Velocimetry?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streamflow gauging (current meters, floats) requires physical river access — slow, costly, and unsafe at high flow.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cameras can capture surface motion remotely and repeatedly, at low cost.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natural tracers (bubbles, foam, ripples) between frames lets us estimate surface velocity without contact instruments.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040880" y="16002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066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286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river surface velocity from ordinary video, then compare it to a known reference velocity.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06640" y="3977640"/>
            <a:ext cx="3749040" cy="0"/>
          </a:xfrm>
          <a:prstGeom prst="line">
            <a:avLst/>
          </a:prstGeom>
          <a:noFill/>
          <a:ln w="1905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06640" y="4160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scope (per proposal feedback): compare two methods, not just implement one.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Families of Methods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LS-PIV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0120" y="23774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Particle Image Velocimetry tracks natural tracers (foam, bubbles, debris) between frames — adapting lab-based PIV to outdoor river conditions.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960" y="23774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dense field of pixel-level motion using brightness-constancy assumptions, rather than tracking discrete particles.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affecting both methods: lighting, reflections/glare, motion blur, and how much visible texture is on the surface.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Real-World Velocity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river surface video with a fixed camera; identify visible tracers (bubbles, foam, ripples).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82112" y="1938528"/>
            <a:ext cx="201168" cy="0"/>
          </a:xfrm>
          <a:prstGeom prst="line">
            <a:avLst/>
          </a:prstGeom>
          <a:noFill/>
          <a:ln w="254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10712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1071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410712" y="2377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10712" y="283464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LS-PIV and optical flow separately to estimate pixel displacement between frames.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52744" y="1938528"/>
            <a:ext cx="201168" cy="0"/>
          </a:xfrm>
          <a:prstGeom prst="line">
            <a:avLst/>
          </a:prstGeom>
          <a:noFill/>
          <a:ln w="254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81344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8134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81344" y="2377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Geometry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81344" y="283464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reference points / homography to convert pixel motion into real-world distance, correcting for camera angle.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723376" y="1938528"/>
            <a:ext cx="201168" cy="0"/>
          </a:xfrm>
          <a:prstGeom prst="line">
            <a:avLst/>
          </a:prstGeom>
          <a:noFill/>
          <a:ln w="254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951976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5197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951976" y="2377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Compare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951976" y="283464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frame rate to get velocity; compare both methods against a known reference velocity.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LS-PIV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LS-PIV — Implementation &amp; Results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0120" y="2240280"/>
            <a:ext cx="4663440" cy="0"/>
          </a:xfrm>
          <a:prstGeom prst="line">
            <a:avLst/>
          </a:prstGeom>
          <a:noFill/>
          <a:ln w="127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was it implemented? Tools/libraries, key parameters, and any preprocessing steps.]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2240280"/>
            <a:ext cx="4663440" cy="0"/>
          </a:xfrm>
          <a:prstGeom prst="line">
            <a:avLst/>
          </a:prstGeom>
          <a:noFill/>
          <a:ln w="127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[Accuracy vs. reference velocity, error metrics (percent error, MAE, RMSE), processing time, and performance under different conditions. Add a chart or example frame here.]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OPTICAL FLOW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 — Implementation &amp; Results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0120" y="2240280"/>
            <a:ext cx="4663440" cy="0"/>
          </a:xfrm>
          <a:prstGeom prst="line">
            <a:avLst/>
          </a:prstGeom>
          <a:noFill/>
          <a:ln w="127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was it implemented? Tools/libraries, key parameters, and any preprocessing steps.]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2240280"/>
            <a:ext cx="4663440" cy="0"/>
          </a:xfrm>
          <a:prstGeom prst="line">
            <a:avLst/>
          </a:prstGeom>
          <a:noFill/>
          <a:ln w="12700">
            <a:solidFill>
              <a:srgbClr val="8FD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[Accuracy vs. reference velocity, error metrics (percent error, MAE, RMSE), processing time, and performance under different conditions. Add a chart or example frame here.]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DISCUSSION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502152" cy="4023360"/>
          </a:xfrm>
          <a:prstGeom prst="roundRect">
            <a:avLst>
              <a:gd name="adj" fmla="val 2611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 performed better?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which method — LS-PIV or optical flow — was more accurate overall and why. Note any conditions where the other method won instead.]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502152" cy="4023360"/>
          </a:xfrm>
          <a:prstGeom prst="roundRect">
            <a:avLst>
              <a:gd name="adj" fmla="val 2611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99432" y="19659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99432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[Accuracy vs. processing time, and the impact of the geometric correction step on overall error.]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010144" y="1691640"/>
            <a:ext cx="3502152" cy="4023360"/>
          </a:xfrm>
          <a:prstGeom prst="roundRect">
            <a:avLst>
              <a:gd name="adj" fmla="val 2611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84464" y="19659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84464" y="288036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[Dataset size/diversity, reference velocity ground truth quality, and assumptions in the geometric correction.]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 — River Surface Velocity Estimation via Computer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Welcker  ·  Andrew Chan  ·  Brayden Duerksen  ·  Sean Gilbert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Macintosh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Brayden Duerksen (Student)</cp:lastModifiedBy>
  <cp:revision>2</cp:revision>
  <dcterms:created xsi:type="dcterms:W3CDTF">2026-08-16T16:14:11Z</dcterms:created>
  <dcterms:modified xsi:type="dcterms:W3CDTF">2026-08-16T16:16:28Z</dcterms:modified>
</cp:coreProperties>
</file>